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2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dPt>
            <c:idx val="0"/>
            <c:spPr>
              <a:solidFill>
                <a:srgbClr val="6DFF3B"/>
              </a:solidFill>
            </c:spPr>
          </c:dPt>
          <c:dPt>
            <c:idx val="1"/>
            <c:spPr>
              <a:solidFill>
                <a:srgbClr val="059669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43F5E"/>
              </a:solidFill>
            </c:spPr>
          </c:dPt>
          <c:dPt>
            <c:idx val="4"/>
            <c:spPr>
              <a:solidFill>
                <a:srgbClr val="3B82F6"/>
              </a:solidFill>
            </c:spPr>
          </c:dPt>
          <c:cat>
            <c:strRef>
              <c:f>Sheet1!$A$2:$A$6</c:f>
              <c:strCache>
                <c:ptCount val="5"/>
                <c:pt idx="0">
                  <c:v>Owner (54%)</c:v>
                </c:pt>
                <c:pt idx="1">
                  <c:v>Commission (15%)</c:v>
                </c:pt>
                <c:pt idx="2">
                  <c:v>GST (15%)</c:v>
                </c:pt>
                <c:pt idx="3">
                  <c:v>Coupon (10%)</c:v>
                </c:pt>
                <c:pt idx="4">
                  <c:v>Gateway (6%)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</c:v>
                </c:pt>
                <c:pt idx="1">
                  <c:v>15</c:v>
                </c:pt>
                <c:pt idx="2">
                  <c:v>15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Revenue (₹ Lakhs)</c:v>
                </c:pt>
              </c:strCache>
            </c:strRef>
          </c:tx>
          <c:spPr>
            <a:solidFill>
              <a:srgbClr val="6DFF3B"/>
            </a:solidFill>
          </c:spPr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</c:v>
                </c:pt>
                <c:pt idx="1">
                  <c:v>4.5</c:v>
                </c:pt>
                <c:pt idx="2">
                  <c:v>6.1</c:v>
                </c:pt>
                <c:pt idx="3">
                  <c:v>7.2</c:v>
                </c:pt>
                <c:pt idx="4">
                  <c:v>8.1</c:v>
                </c:pt>
                <c:pt idx="5">
                  <c:v>9.5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137160" cy="137160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SPORTXCLUB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FF3B"/>
                </a:solidFill>
                <a:latin typeface="Calibri"/>
              </a:defRPr>
            </a:pPr>
            <a:r>
              <a:t>PAYMENT PROCESS ARCHITECTURE  ·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Payment Workflow &amp;</a:t>
            </a:r>
            <a:br/>
            <a:r>
              <a:t>Settlement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Complete end-to-end payment architecture covering Player payments,</a:t>
            </a:r>
            <a:br/>
            <a:r>
              <a:t>Platform commission model, Owner settlements, and refund workflows</a:t>
            </a:r>
            <a:br/>
            <a:r>
              <a:t>— powered by Razorpay Route on Node.js.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669280"/>
            <a:ext cx="2560320" cy="365760"/>
          </a:xfrm>
          <a:prstGeom prst="roundRect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68756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0505"/>
                </a:solidFill>
                <a:latin typeface="Calibri"/>
              </a:defRPr>
            </a:pPr>
            <a:r>
              <a:t>Presented by Team SportXClub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669280"/>
            <a:ext cx="2286000" cy="36576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303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568756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Confidential · 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CURRENT STATE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 Have vs 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3F5E"/>
                </a:solidFill>
                <a:latin typeface="Calibri"/>
              </a:defRPr>
            </a:pPr>
            <a:r>
              <a:t>❌  Current State (Mock Only)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4937760" cy="411480"/>
          </a:xfrm>
          <a:prstGeom prst="roundRect">
            <a:avLst/>
          </a:prstGeom>
          <a:solidFill>
            <a:srgbClr val="140A0E"/>
          </a:solidFill>
          <a:ln w="12700">
            <a:solidFill>
              <a:srgbClr val="3D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037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7185"/>
                </a:solidFill>
                <a:latin typeface="Calibri"/>
              </a:defRPr>
            </a:pPr>
            <a:r>
              <a:t>•  Payment simulated with setTimeout(2000)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4937760" cy="411480"/>
          </a:xfrm>
          <a:prstGeom prst="roundRect">
            <a:avLst/>
          </a:prstGeom>
          <a:solidFill>
            <a:srgbClr val="140A0E"/>
          </a:solidFill>
          <a:ln w="12700">
            <a:solidFill>
              <a:srgbClr val="3D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066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7185"/>
                </a:solidFill>
                <a:latin typeface="Calibri"/>
              </a:defRPr>
            </a:pPr>
            <a:r>
              <a:t>•  No real payment gateway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4937760" cy="411480"/>
          </a:xfrm>
          <a:prstGeom prst="roundRect">
            <a:avLst/>
          </a:prstGeom>
          <a:solidFill>
            <a:srgbClr val="140A0E"/>
          </a:solidFill>
          <a:ln w="12700">
            <a:solidFill>
              <a:srgbClr val="3D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9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7185"/>
                </a:solidFill>
                <a:latin typeface="Calibri"/>
              </a:defRPr>
            </a:pPr>
            <a:r>
              <a:t>•  Hardcoded price breakdown (₹45 fee, ₹135 GST)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4937760" cy="411480"/>
          </a:xfrm>
          <a:prstGeom prst="roundRect">
            <a:avLst/>
          </a:prstGeom>
          <a:solidFill>
            <a:srgbClr val="140A0E"/>
          </a:solidFill>
          <a:ln w="12700">
            <a:solidFill>
              <a:srgbClr val="3D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124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7185"/>
                </a:solidFill>
                <a:latin typeface="Calibri"/>
              </a:defRPr>
            </a:pPr>
            <a:r>
              <a:t>•  No owner settlement or commission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4937760" cy="411480"/>
          </a:xfrm>
          <a:prstGeom prst="roundRect">
            <a:avLst/>
          </a:prstGeom>
          <a:solidFill>
            <a:srgbClr val="140A0E"/>
          </a:solidFill>
          <a:ln w="12700">
            <a:solidFill>
              <a:srgbClr val="3D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7185"/>
                </a:solidFill>
                <a:latin typeface="Calibri"/>
              </a:defRPr>
            </a:pPr>
            <a:r>
              <a:t>•  Split payment is UI-only (no real logic)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4937760" cy="411480"/>
          </a:xfrm>
          <a:prstGeom prst="roundRect">
            <a:avLst/>
          </a:prstGeom>
          <a:solidFill>
            <a:srgbClr val="140A0E"/>
          </a:solidFill>
          <a:ln w="12700">
            <a:solidFill>
              <a:srgbClr val="3D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183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7185"/>
                </a:solidFill>
                <a:latin typeface="Calibri"/>
              </a:defRPr>
            </a:pPr>
            <a:r>
              <a:t>•  No webhook verification or transaction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DFF3B"/>
                </a:solidFill>
                <a:latin typeface="Calibri"/>
              </a:defRPr>
            </a:pPr>
            <a:r>
              <a:t>✅  Proposed State (Production)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48840"/>
            <a:ext cx="5212080" cy="411480"/>
          </a:xfrm>
          <a:prstGeom prst="roundRect">
            <a:avLst/>
          </a:prstGeom>
          <a:solidFill>
            <a:srgbClr val="06140A"/>
          </a:solidFill>
          <a:ln w="12700">
            <a:solidFill>
              <a:srgbClr val="143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037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•  Razorpay Route with auto-split to owners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5212080" cy="411480"/>
          </a:xfrm>
          <a:prstGeom prst="roundRect">
            <a:avLst/>
          </a:prstGeom>
          <a:solidFill>
            <a:srgbClr val="06140A"/>
          </a:solidFill>
          <a:ln w="12700">
            <a:solidFill>
              <a:srgbClr val="143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06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•  Dynamic pricing (base + GST + fee − coupon)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5212080" cy="411480"/>
          </a:xfrm>
          <a:prstGeom prst="roundRect">
            <a:avLst/>
          </a:prstGeom>
          <a:solidFill>
            <a:srgbClr val="06140A"/>
          </a:solidFill>
          <a:ln w="12700">
            <a:solidFill>
              <a:srgbClr val="143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095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•  Automated T+2 settlement via cron jobs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57600"/>
            <a:ext cx="5212080" cy="411480"/>
          </a:xfrm>
          <a:prstGeom prst="roundRect">
            <a:avLst/>
          </a:prstGeom>
          <a:solidFill>
            <a:srgbClr val="06140A"/>
          </a:solidFill>
          <a:ln w="12700">
            <a:solidFill>
              <a:srgbClr val="143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124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•  15% platform commission (configurable tiers)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60520"/>
            <a:ext cx="5212080" cy="411480"/>
          </a:xfrm>
          <a:prstGeom prst="roundRect">
            <a:avLst/>
          </a:prstGeom>
          <a:solidFill>
            <a:srgbClr val="06140A"/>
          </a:solidFill>
          <a:ln w="12700">
            <a:solidFill>
              <a:srgbClr val="143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2153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•  Real split payments with 30-min timeout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663440"/>
            <a:ext cx="5212080" cy="411480"/>
          </a:xfrm>
          <a:prstGeom prst="roundRect">
            <a:avLst/>
          </a:prstGeom>
          <a:solidFill>
            <a:srgbClr val="06140A"/>
          </a:solidFill>
          <a:ln w="12700">
            <a:solidFill>
              <a:srgbClr val="143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7183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•  Webhook verification + full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STAKEHOLDER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Parties, One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Every booking involves three stakeholders with distinct roles in the payment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384048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Player (User)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Browses venues, selects time slots,</a:t>
            </a:r>
            <a:br/>
            <a:r>
              <a:t>makes payment via UPI/Card/Wallet.</a:t>
            </a:r>
            <a:br/>
            <a:r>
              <a:t>Can split payment with teammates.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029200"/>
            <a:ext cx="2377440" cy="365760"/>
          </a:xfrm>
          <a:prstGeom prst="roundRect">
            <a:avLst/>
          </a:prstGeom>
          <a:solidFill>
            <a:srgbClr val="0A120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0474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PAYS MONEY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291840" cy="384048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SportXClub (Platform)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Middleman. Collects payment,</a:t>
            </a:r>
            <a:br/>
            <a:r>
              <a:t>deducts 15% commission + ₹45 fee,</a:t>
            </a:r>
            <a:br/>
            <a:r>
              <a:t>settles remainder to owner.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5029200"/>
            <a:ext cx="2377440" cy="365760"/>
          </a:xfrm>
          <a:prstGeom prst="roundRect">
            <a:avLst/>
          </a:prstGeom>
          <a:solidFill>
            <a:srgbClr val="0A120A"/>
          </a:solidFill>
          <a:ln w="12700">
            <a:solidFill>
              <a:srgbClr val="6D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50474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DFF3B"/>
                </a:solidFill>
                <a:latin typeface="Calibri"/>
              </a:defRPr>
            </a:pPr>
            <a:r>
              <a:t>HOLDS &amp; SPLITS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291840" cy="384048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🏟️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Turf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566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Receives 85% of base price after</a:t>
            </a:r>
            <a:br/>
            <a:r>
              <a:t>commission deduction. Settlement</a:t>
            </a:r>
            <a:br/>
            <a:r>
              <a:t>via Razorpay Route in T+2 days.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029200"/>
            <a:ext cx="2377440" cy="365760"/>
          </a:xfrm>
          <a:prstGeom prst="roundRect">
            <a:avLst/>
          </a:prstGeom>
          <a:solidFill>
            <a:srgbClr val="0A120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50474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← RECEIVES 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Does The Money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Price breakdown for a ₹1,000 base booking: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1645920"/>
              </a:tblGrid>
              <a:tr h="4343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Recipient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Base Turf Price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₹1,000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Split below ↓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→ Owner Share (85%)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₹850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Turf Owner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→ Platform Commission (15%)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₹150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SportXClub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Convenience Fee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₹45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SportXClub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GST (18%)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₹188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Government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Coupon Discount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3F5E"/>
                          </a:solidFill>
                          <a:latin typeface="Calibri"/>
                        </a:defRPr>
                      </a:pPr>
                      <a:r>
                        <a:t>−₹100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SportXClub absorbs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TOTAL USER PAYS</a:t>
                      </a:r>
                    </a:p>
                  </a:txBody>
                  <a:tcPr>
                    <a:solidFill>
                      <a:srgbClr val="0A1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₹1,133</a:t>
                      </a:r>
                    </a:p>
                  </a:txBody>
                  <a:tcPr>
                    <a:solidFill>
                      <a:srgbClr val="0A1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A1A0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0" y="1645920"/>
          <a:ext cx="4572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PLAYER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Player Booking → Payment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645920" cy="11887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Browse</a:t>
            </a:r>
            <a:br/>
            <a:r>
              <a:t>Venues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828800"/>
            <a:ext cx="1645920" cy="11887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40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Select Sport</a:t>
            </a:r>
            <a:br/>
            <a:r>
              <a:t>&amp; Slot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1645920" cy="11887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  <a:br/>
            <a:r>
              <a:t>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1645920" cy="1188720"/>
          </a:xfrm>
          <a:prstGeom prst="roundRect">
            <a:avLst/>
          </a:prstGeom>
          <a:solidFill>
            <a:srgbClr val="0A1A0A"/>
          </a:solidFill>
          <a:ln w="12700">
            <a:solidFill>
              <a:srgbClr val="6D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40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Choose</a:t>
            </a:r>
            <a:br/>
            <a:r>
              <a:t>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1645920" cy="11887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40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Razorpay</a:t>
            </a:r>
            <a:br/>
            <a:r>
              <a:t>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1828800"/>
            <a:ext cx="1645920" cy="1188720"/>
          </a:xfrm>
          <a:prstGeom prst="roundRect">
            <a:avLst/>
          </a:prstGeom>
          <a:solidFill>
            <a:srgbClr val="061412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59669"/>
                </a:solidFill>
                <a:latin typeface="Calibri"/>
              </a:defRPr>
            </a:pPr>
            <a:r>
              <a:t>Done 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240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Booking</a:t>
            </a:r>
            <a:br/>
            <a:r>
              <a:t>Confirmed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57600"/>
            <a:ext cx="2560320" cy="13716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DFF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Payment Methods</a:t>
            </a:r>
            <a:br/>
            <a:r>
              <a:t>(UPI, Card, Wallet)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657600"/>
            <a:ext cx="2560320" cy="13716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297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Split Payment</a:t>
            </a:r>
            <a:br/>
            <a:r>
              <a:t>Timeout Window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657600"/>
            <a:ext cx="2560320" cy="13716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59669"/>
                </a:solidFill>
                <a:latin typeface="Calibri"/>
              </a:defRPr>
            </a:pPr>
            <a:r>
              <a:t>QR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97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Entry Pass with</a:t>
            </a:r>
            <a:br/>
            <a:r>
              <a:t>QR Code Generated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3657600"/>
            <a:ext cx="2560320" cy="13716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B82F6"/>
                </a:solidFill>
                <a:latin typeface="Calibri"/>
              </a:defRPr>
            </a:pPr>
            <a: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297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Downloadable</a:t>
            </a:r>
            <a:br/>
            <a:r>
              <a:t>Receipt with GST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Payment States:   INITIATED  →  PROCESSING  →  SUCCESS ✅  |  FAILED ❌  |  PARTIALLY_PAID ⏳  |  REFUNDED 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Internal Payment Engine — Node.js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764792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74520"/>
            <a:ext cx="18288" cy="64008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73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Frontend → Create Order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7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app calls /api/payment/create-order with booking details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42032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651760"/>
            <a:ext cx="18288" cy="64008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50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Node.js → Razorpay Order +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24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Server creates Order with transfers[] array specifying owner's linked account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319272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429000"/>
            <a:ext cx="18288" cy="64008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27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Frontend → Razorpay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02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Razorpay Checkout.js popup opens — player pays via UPI/Card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096512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206240"/>
            <a:ext cx="18288" cy="64008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Server → Verify Signature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793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HMAC-SHA256 signature verification to confirm payment is genuine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873752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983480"/>
            <a:ext cx="18288" cy="64008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782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Razorpay → Webhook Notification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566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Backup confirmation via payment.captured webhook event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650992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559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6. Cron Job → Release &amp; Settle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833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Nightly batch releases held funds to owner's bank (T+2)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1965960"/>
            <a:ext cx="4754880" cy="7315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12280" y="2103120"/>
            <a:ext cx="457200" cy="457200"/>
          </a:xfrm>
          <a:prstGeom prst="roundRect">
            <a:avLst/>
          </a:prstGeom>
          <a:solidFill>
            <a:srgbClr val="15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Node.js + Express.js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API Server &amp; Business Logic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834639"/>
            <a:ext cx="4754880" cy="7315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12280" y="2971799"/>
            <a:ext cx="457200" cy="457200"/>
          </a:xfrm>
          <a:prstGeom prst="roundRect">
            <a:avLst/>
          </a:prstGeom>
          <a:solidFill>
            <a:srgbClr val="15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294436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9260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Razorpay Route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2003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Payment Gateway + Auto-Split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3703320"/>
            <a:ext cx="4754880" cy="7315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12280" y="3840480"/>
            <a:ext cx="457200" cy="457200"/>
          </a:xfrm>
          <a:prstGeom prst="roundRect">
            <a:avLst/>
          </a:prstGeom>
          <a:solidFill>
            <a:srgbClr val="15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3813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🗃️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794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Transactions, Settlements, Bookings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572000"/>
            <a:ext cx="4754880" cy="7315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12280" y="4709160"/>
            <a:ext cx="457200" cy="457200"/>
          </a:xfrm>
          <a:prstGeom prst="roundRect">
            <a:avLst/>
          </a:prstGeom>
          <a:solidFill>
            <a:srgbClr val="15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4681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node-cron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Nightly Settlement Batch Jobs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5440679"/>
            <a:ext cx="4754880" cy="73152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12280" y="5577839"/>
            <a:ext cx="457200" cy="457200"/>
          </a:xfrm>
          <a:prstGeom prst="roundRect">
            <a:avLst/>
          </a:prstGeom>
          <a:solidFill>
            <a:srgbClr val="15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55504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5321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Webhooks + Notifications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58064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Email (Nodemailer) + SMS (MSG91)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OWNER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Owner Settlement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828800" cy="109728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Player</a:t>
            </a:r>
            <a:br/>
            <a:r>
              <a:t>Pays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37360"/>
            <a:ext cx="1828800" cy="1097280"/>
          </a:xfrm>
          <a:prstGeom prst="roundRect">
            <a:avLst/>
          </a:prstGeom>
          <a:solidFill>
            <a:srgbClr val="0A1A0A"/>
          </a:solidFill>
          <a:ln w="12700">
            <a:solidFill>
              <a:srgbClr val="6D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  <a:br/>
            <a:r>
              <a:t>Escrow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737360"/>
            <a:ext cx="1828800" cy="109728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Deduct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  <a:br/>
            <a:r>
              <a:t>Commission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737360"/>
            <a:ext cx="1828800" cy="109728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T+2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Bank</a:t>
            </a:r>
            <a:br/>
            <a:r>
              <a:t>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DFF3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737360"/>
            <a:ext cx="1828800" cy="1097280"/>
          </a:xfrm>
          <a:prstGeom prst="roundRect">
            <a:avLst/>
          </a:prstGeom>
          <a:solidFill>
            <a:srgbClr val="061412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DFF3B"/>
                </a:solidFill>
                <a:latin typeface="Calibri"/>
              </a:defRPr>
            </a:pPr>
            <a:r>
              <a:t>Done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Owner</a:t>
            </a:r>
            <a:br/>
            <a:r>
              <a:t>Receives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32004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Booking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Player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Gross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Commission (15%)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Net Payout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DFF3B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#SX-001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Rahul Sharma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₹2,400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₹360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₹2,040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✅ Settled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#SX-002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Priya Patel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₹1,500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₹225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₹1,275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✅ Settled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#SX-003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Arjun M.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₹800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₹120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₹680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⏳ Processing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#SX-004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Vikram S.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₹1,200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3F5E"/>
                          </a:solidFill>
                          <a:latin typeface="Calibri"/>
                        </a:defRPr>
                      </a:pPr>
                      <a:r>
                        <a:t>❌ Cancelled</a:t>
                      </a:r>
                    </a:p>
                  </a:txBody>
                  <a:tcPr>
                    <a:solidFill>
                      <a:srgbClr val="0C0E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CANCELLATION &amp; REFUND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Refund Policy — 3 Tier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474720" cy="4114800"/>
          </a:xfrm>
          <a:prstGeom prst="roundRect">
            <a:avLst/>
          </a:prstGeom>
          <a:solidFill>
            <a:srgbClr val="06140A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59669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Free Cancellation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Cancelled more than 4 hours</a:t>
            </a:r>
            <a:br/>
            <a:r>
              <a:t>before slot time.</a:t>
            </a:r>
            <a:br/>
            <a:r>
              <a:t>Full refund in 5-7 business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46320"/>
            <a:ext cx="2926080" cy="365760"/>
          </a:xfrm>
          <a:prstGeom prst="roundRect">
            <a:avLst/>
          </a:prstGeom>
          <a:solidFill>
            <a:srgbClr val="0A0C10"/>
          </a:solidFill>
          <a:ln w="12700">
            <a:solidFill>
              <a:srgbClr val="20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6460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Owner: ₹0 · Platform: ₹0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737360"/>
            <a:ext cx="3474720" cy="4114800"/>
          </a:xfrm>
          <a:prstGeom prst="roundRect">
            <a:avLst/>
          </a:prstGeom>
          <a:solidFill>
            <a:srgbClr val="14100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468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Late Cancellation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566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Cancelled 1-4 hours before slot.</a:t>
            </a:r>
            <a:br/>
            <a:r>
              <a:t>Half amount refunded,</a:t>
            </a:r>
            <a:br/>
            <a:r>
              <a:t>half distributed.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1999" y="4846320"/>
            <a:ext cx="2926080" cy="365760"/>
          </a:xfrm>
          <a:prstGeom prst="roundRect">
            <a:avLst/>
          </a:prstGeom>
          <a:solidFill>
            <a:srgbClr val="0A0C10"/>
          </a:solidFill>
          <a:ln w="12700">
            <a:solidFill>
              <a:srgbClr val="20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486460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Owner: 50% · Platform: 15% of 50%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737360"/>
            <a:ext cx="3474720" cy="4114800"/>
          </a:xfrm>
          <a:prstGeom prst="roundRect">
            <a:avLst/>
          </a:prstGeom>
          <a:solidFill>
            <a:srgbClr val="140A0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468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43F5E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No-Show / 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3566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Cancelled within 1 hour or</a:t>
            </a:r>
            <a:br/>
            <a:r>
              <a:t>didn't show up.</a:t>
            </a:r>
            <a:br/>
            <a:r>
              <a:t>No refund issued.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39" y="4846320"/>
            <a:ext cx="2926080" cy="365760"/>
          </a:xfrm>
          <a:prstGeom prst="roundRect">
            <a:avLst/>
          </a:prstGeom>
          <a:solidFill>
            <a:srgbClr val="0A0C10"/>
          </a:solidFill>
          <a:ln w="12700">
            <a:solidFill>
              <a:srgbClr val="20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9" y="486460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3F5E"/>
                </a:solidFill>
                <a:latin typeface="Calibri"/>
              </a:defRPr>
            </a:pPr>
            <a:r>
              <a:t>Owner: 100% · Platform: Full 15%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77840"/>
            <a:ext cx="10972800" cy="54864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509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Refund Timeline:  Day 0: Initiated  →  Day 1: Razorpay processes  →  Day 3-5: Credited to bank  →  Day 5-7: Worst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FINANCIAL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Monthly Revenue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Based on 100 bookings/day at ₹1,500 average base price.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920240"/>
            <a:ext cx="3840480" cy="9144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993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Monthly GMV (at scale)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04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₹45L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017520"/>
            <a:ext cx="3840480" cy="9144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Platform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DFF3B"/>
                </a:solidFill>
                <a:latin typeface="Calibri"/>
              </a:defRPr>
            </a:pPr>
            <a:r>
              <a:t>₹8.1L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114800"/>
            <a:ext cx="3840480" cy="9144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87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Razorpay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498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43F5E"/>
                </a:solidFill>
                <a:latin typeface="Calibri"/>
              </a:defRPr>
            </a:pPr>
            <a:r>
              <a:t>₹87K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212079"/>
            <a:ext cx="3840480" cy="9144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5303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2852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Net Profit /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59612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Calibri"/>
              </a:defRPr>
            </a:pPr>
            <a:r>
              <a:t>₹7.2L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FF3B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Documents Required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DFF3B"/>
                </a:solidFill>
                <a:latin typeface="Calibri"/>
              </a:defRPr>
            </a:pPr>
            <a:r>
              <a:t>📋  Documents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9144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84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Platform (SportXClub)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91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Business Registration · PAN · GST ·</a:t>
            </a:r>
            <a:br/>
            <a:r>
              <a:t>Bank Account · Razorpay Route Activation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5029200" cy="9144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36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🏟️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36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 Turf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07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PAN · Aadhaar · Bank Details ·</a:t>
            </a:r>
            <a:br/>
            <a:r>
              <a:t>Cancelled Cheque · Turf Ownership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029200" cy="9144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87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87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Player (User)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622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Name · Email · Phone only</a:t>
            </a:r>
            <a:br/>
            <a:r>
              <a:t>— no documents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5029200" cy="914400"/>
          </a:xfrm>
          <a:prstGeom prst="roundRect">
            <a:avLst/>
          </a:prstGeom>
          <a:solidFill>
            <a:srgbClr val="101216"/>
          </a:solidFill>
          <a:ln w="12700">
            <a:solidFill>
              <a:srgbClr val="252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39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Legal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138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Privacy Policy · Terms of Service ·</a:t>
            </a:r>
            <a:br/>
            <a:r>
              <a:t>Refund Policy · Contact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DFF3B"/>
                </a:solidFill>
                <a:latin typeface="Calibri"/>
              </a:defRPr>
            </a:pPr>
            <a:r>
              <a:t>🚀  5-Week Rollout Plan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121408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2231136"/>
            <a:ext cx="18288" cy="658368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FF3B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240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Business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871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LLP registration, GST, bank account, CA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2944368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3054096"/>
            <a:ext cx="18288" cy="658368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FF3B"/>
                </a:solidFill>
                <a:latin typeface="Calibri"/>
              </a:defRPr>
            </a:pPr>
            <a:r>
              <a:t>Week 2-3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063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Razorpay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3101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Account, Route activation, test mode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3767328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60" y="3877056"/>
            <a:ext cx="18288" cy="658368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FF3B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Backend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1330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Node.js APIs, webhooks, cron jobs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4590288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60" y="4700016"/>
            <a:ext cx="18288" cy="658368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FF3B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Owner Onboarding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956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KYC flow, linked accounts, admin panel</a:t>
            </a:r>
          </a:p>
        </p:txBody>
      </p:sp>
      <p:sp>
        <p:nvSpPr>
          <p:cNvPr id="42" name="Oval 41"/>
          <p:cNvSpPr/>
          <p:nvPr/>
        </p:nvSpPr>
        <p:spPr>
          <a:xfrm>
            <a:off x="6492240" y="5413248"/>
            <a:ext cx="109728" cy="109728"/>
          </a:xfrm>
          <a:prstGeom prst="ellipse">
            <a:avLst/>
          </a:prstGeom>
          <a:solidFill>
            <a:srgbClr val="6D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FF3B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532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 Live! 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57790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Switch to live, first real transactions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669280"/>
            <a:ext cx="5029200" cy="640080"/>
          </a:xfrm>
          <a:prstGeom prst="roundRect">
            <a:avLst/>
          </a:prstGeom>
          <a:solidFill>
            <a:srgbClr val="0A1A0A"/>
          </a:solidFill>
          <a:ln w="12700">
            <a:solidFill>
              <a:srgbClr val="6DF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DFF3B"/>
                </a:solidFill>
                <a:latin typeface="Calibri"/>
              </a:defRPr>
            </a:pPr>
            <a:r>
              <a:t>💰  Startup Cost:  ₹10,000 — ₹15,000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989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Razorpay is FREE. Major cost = LLP registration + CA fees.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